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Eval cases</c:v>
                </c:pt>
              </c:strCache>
            </c:strRef>
          </c:tx>
          <c:spPr>
            <a:solidFill>
              <a:srgbClr val="E200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714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Trust</c:v>
                  </c:pt>
                  <c:pt idx="1">
                    <c:v>Conversation</c:v>
                  </c:pt>
                  <c:pt idx="2">
                    <c:v>Constraints</c:v>
                  </c:pt>
                  <c:pt idx="3">
                    <c:v>Cart</c:v>
                  </c:pt>
                  <c:pt idx="4">
                    <c:v>Auth</c:v>
                  </c:pt>
                  <c:pt idx="5">
                    <c:v>Personalize</c:v>
                  </c:pt>
                  <c:pt idx="6">
                    <c:v>RAG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7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714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14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Trustworthy AI shopping assistant for Deutsche Telekom. Finds the right phone + plan + accessories through natural conversation, explains why, learns preferences, guides to checkout, consistent across web and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not building a chatbot. We attack cart abandonment and poor product discovery — direct revenue for a commerce business like Telekom OneShop.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can propose but can never put in front of the customer a product the rules reject. That is why it is trustworthy — it physically cannot recommend a phone that doesn't exist, is out of stock, or breaks the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A/B testing is called out as the one deliberate future item; everything else is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finds relevant products by meaning; the deterministic engine checks live truth (stock/price/eligibility). Volatile facts like stock are never stored in the vector 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graph.py::run_pipeline is the backbone. A branch handles greeting, scope refusal, and clarification before search. Guardrail enforced in both recommender.py and graph.py.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rules winning over the LLM is the differentiator. Scenario B from the project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Cold-start handled: first-time user falls back to query intent + popularity. Correctable: 'actually show iPhones' updates the profile. No ML training pipeline — deliberate, demoable, explainable.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is a phone-shaped web view hitting the same API — an honest way to demo omnichannel with an all-web team. In production, the native app hits the same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Runs fully offline/deterministic: mock generation, JSON catalog, in-memory sessions. RAG case skips gracefully if Qdrant is down. Non-zero exit on any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POC debt: mock catalog vs real API, in-memory sessions vs Redis, single model. All flagged as honest trade-offs.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737360"/>
            <a:ext cx="5669280" cy="5669280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566160"/>
            <a:ext cx="3291840" cy="3291840"/>
          </a:xfrm>
          <a:prstGeom prst="ellipse">
            <a:avLst/>
          </a:prstGeom>
          <a:solidFill>
            <a:srgbClr val="A6005A"/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5120640"/>
            <a:ext cx="3108960" cy="3108960"/>
          </a:xfrm>
          <a:prstGeom prst="ellipse">
            <a:avLst/>
          </a:prstGeom>
          <a:solidFill>
            <a:srgbClr val="241E2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DTDL · THE TALENT HACK — PROBLEM STATEMENT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8595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Telekom Smart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Assistant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F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Omnichannel Consumer Intelligence Engine that personalizes the shopping journey across OneShop (Web) and OneApp (Mobile).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4892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generates.  </a:t>
            </a:r>
            <a:pPr indent="0" marL="0">
              <a:buNone/>
            </a:pPr>
            <a:r>
              <a:rPr lang="en-US" sz="2000" b="1" i="1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rules decide.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5800" y="5715000"/>
            <a:ext cx="1504188" cy="384048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715000"/>
            <a:ext cx="1504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2868" y="5715000"/>
            <a:ext cx="2272284" cy="384048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2868" y="5715000"/>
            <a:ext cx="2272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/ Multi-agent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28032" y="5715000"/>
            <a:ext cx="544068" cy="384048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5715000"/>
            <a:ext cx="544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54980" y="571500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4980" y="5715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38060" y="5715000"/>
            <a:ext cx="736092" cy="384048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8060" y="5715000"/>
            <a:ext cx="7360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ATTACK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choice kills conversion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commerce offers thousands of products, plans, devices and accessories. Overwhelmed customers can't find what's relevant — so they disengage, and carts are abandoned.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898648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880360" y="28803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e-commerce carts are abandoned before purchase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995928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4014216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880360" y="3995928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phones, plans &amp; accessories to sift through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5111496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5129784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goal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880360" y="511149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phone + plan + accessory, minimal friction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60920" y="1463040"/>
            <a:ext cx="4160520" cy="4800600"/>
          </a:xfrm>
          <a:prstGeom prst="roundRect">
            <a:avLst>
              <a:gd name="adj" fmla="val 2637"/>
            </a:avLst>
          </a:prstGeom>
          <a:solidFill>
            <a:srgbClr val="17141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3524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customer actually wants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80960" y="2542032"/>
            <a:ext cx="256032" cy="256032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24323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products that fit their real intent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680960" y="3273552"/>
            <a:ext cx="256032" cy="256032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316382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decide with confidence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680960" y="4005072"/>
            <a:ext cx="256032" cy="256032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38953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something is recommended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680960" y="4736592"/>
            <a:ext cx="256032" cy="256032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46268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nudged past friction to checkout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680960" y="5468112"/>
            <a:ext cx="256032" cy="256032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53583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context moving web ↔ mobile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salesperson that never hallucinates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F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behaves like a knowledgeable, honest advisor who never forgets what you said — the LLM converses, ranks and explains, while a deterministic engine decides what is actually offerable.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8221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intent, budget, use-case from natural language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690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relevance + learned preference signals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257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5595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warm, personalized “Why this for you?”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74320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41E2E"/>
          </a:solidFill>
          <a:ln w="12700">
            <a:solidFill>
              <a:srgbClr val="12A06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1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DECIDE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3520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stock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38221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is checked, never embedded in the vector DB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4389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budget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4690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price must clear the stated cap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5257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&amp; type match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55595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“iPhone for €20” never swaps in a Samsung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42432" y="4114800"/>
            <a:ext cx="822960" cy="822960"/>
          </a:xfrm>
          <a:prstGeom prst="ellipse">
            <a:avLst/>
          </a:prstGeom>
          <a:solidFill>
            <a:srgbClr val="E20074"/>
          </a:solidFill>
          <a:ln w="38100">
            <a:solidFill>
              <a:srgbClr val="1714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4069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COVERAGE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capabilities — plus the bonus list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said “implement one or more.” We built all five required capabilities and most bonus considerations.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310128" cy="1143000"/>
          </a:xfrm>
          <a:prstGeom prst="roundRect">
            <a:avLst>
              <a:gd name="adj" fmla="val 9600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04288"/>
            <a:ext cx="384048" cy="384048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2267712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Discovery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9536" y="269748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preference profile biases grounded ranking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53128" y="2103120"/>
            <a:ext cx="3310128" cy="1143000"/>
          </a:xfrm>
          <a:prstGeom prst="roundRect">
            <a:avLst>
              <a:gd name="adj" fmla="val 9600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54296" y="2304288"/>
            <a:ext cx="384048" cy="384048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12" name="Text 10"/>
          <p:cNvSpPr/>
          <p:nvPr/>
        </p:nvSpPr>
        <p:spPr>
          <a:xfrm>
            <a:off x="4654296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267712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Assistant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72584" y="269748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discover, compare &amp; select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66176" y="2103120"/>
            <a:ext cx="3310128" cy="1143000"/>
          </a:xfrm>
          <a:prstGeom prst="roundRect">
            <a:avLst>
              <a:gd name="adj" fmla="val 9600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7344" y="2304288"/>
            <a:ext cx="384048" cy="384048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17" name="Text 15"/>
          <p:cNvSpPr/>
          <p:nvPr/>
        </p:nvSpPr>
        <p:spPr>
          <a:xfrm>
            <a:off x="8467344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79408" y="2267712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Best Action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485632" y="269748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nudges guide down the funnel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401568"/>
            <a:ext cx="3310128" cy="1143000"/>
          </a:xfrm>
          <a:prstGeom prst="roundRect">
            <a:avLst>
              <a:gd name="adj" fmla="val 9600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3602736"/>
            <a:ext cx="384048" cy="384048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53312" y="356616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Cart &amp; Checkout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59536" y="3995928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+ free-shipping nudges, guided checkout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53128" y="3401568"/>
            <a:ext cx="3310128" cy="1143000"/>
          </a:xfrm>
          <a:prstGeom prst="roundRect">
            <a:avLst>
              <a:gd name="adj" fmla="val 9600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54296" y="3602736"/>
            <a:ext cx="384048" cy="384048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27" name="Text 25"/>
          <p:cNvSpPr/>
          <p:nvPr/>
        </p:nvSpPr>
        <p:spPr>
          <a:xfrm>
            <a:off x="4654296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66360" y="3566160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672584" y="3995928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session &amp; cart web ↔ mobile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17141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440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CONSIDERATIONS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5486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F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297680" y="5486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F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ranking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680960" y="5486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F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— “why this?”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14400" y="5897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F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297680" y="5897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EF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Voice-enabled assistant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680960" y="5897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pPr indent="0" marL="0">
              <a:buNone/>
            </a:pPr>
            <a:r>
              <a:rPr lang="en-US" sz="1350" dirty="0">
                <a:solidFill>
                  <a:srgbClr val="9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framework  (future)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8412480" cy="896112"/>
          </a:xfrm>
          <a:prstGeom prst="roundRect">
            <a:avLst>
              <a:gd name="adj" fmla="val 8163"/>
            </a:avLst>
          </a:prstGeom>
          <a:solidFill>
            <a:srgbClr val="EAF2FB"/>
          </a:solidFill>
          <a:ln w="16510">
            <a:solidFill>
              <a:srgbClr val="2B5A9E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099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5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OneShop (Web)  ·  OneApp (Mobile view)  —  one shared session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2496312"/>
            <a:ext cx="0" cy="128016"/>
          </a:xfrm>
          <a:prstGeom prst="line">
            <a:avLst/>
          </a:prstGeom>
          <a:noFill/>
          <a:ln w="19050">
            <a:solidFill>
              <a:srgbClr val="6E687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" y="2624328"/>
            <a:ext cx="8412480" cy="896112"/>
          </a:xfrm>
          <a:prstGeom prst="roundRect">
            <a:avLst>
              <a:gd name="adj" fmla="val 8163"/>
            </a:avLst>
          </a:prstGeom>
          <a:solidFill>
            <a:srgbClr val="E9F7EF"/>
          </a:solidFill>
          <a:ln w="16510">
            <a:solidFill>
              <a:srgbClr val="2E7D4F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7340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React + Vite + 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081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 ·  SmartCart  ·  FloatingChat (+ Voice)  ·  Auth / Cart / Theme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3520440"/>
            <a:ext cx="0" cy="128016"/>
          </a:xfrm>
          <a:prstGeom prst="line">
            <a:avLst/>
          </a:prstGeom>
          <a:noFill/>
          <a:ln w="19050">
            <a:solidFill>
              <a:srgbClr val="6E68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3648456"/>
            <a:ext cx="8412480" cy="896112"/>
          </a:xfrm>
          <a:prstGeom prst="roundRect">
            <a:avLst>
              <a:gd name="adj" fmla="val 8163"/>
            </a:avLst>
          </a:prstGeom>
          <a:solidFill>
            <a:srgbClr val="F3EEFB"/>
          </a:solidFill>
          <a:ln w="16510">
            <a:solidFill>
              <a:srgbClr val="6A3FA0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75818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A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— FastAPI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410565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  ·  /cart  ·  /catalog  ·  /auth  ·  /profile   (CORS, /health)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4544568"/>
            <a:ext cx="0" cy="128016"/>
          </a:xfrm>
          <a:prstGeom prst="line">
            <a:avLst/>
          </a:prstGeom>
          <a:noFill/>
          <a:ln w="19050">
            <a:solidFill>
              <a:srgbClr val="6E68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4672584"/>
            <a:ext cx="8412480" cy="896112"/>
          </a:xfrm>
          <a:prstGeom prst="roundRect">
            <a:avLst>
              <a:gd name="adj" fmla="val 8163"/>
            </a:avLst>
          </a:prstGeom>
          <a:solidFill>
            <a:srgbClr val="FDEBF4"/>
          </a:solidFill>
          <a:ln w="16510">
            <a:solidFill>
              <a:srgbClr val="B01C6E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7823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1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ORCHESTRATOR — graph.py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512978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→ profile → retrieve → eligibility ★ → recommend → guardrail → receipts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5568696"/>
            <a:ext cx="0" cy="128016"/>
          </a:xfrm>
          <a:prstGeom prst="line">
            <a:avLst/>
          </a:prstGeom>
          <a:noFill/>
          <a:ln w="19050">
            <a:solidFill>
              <a:srgbClr val="6E687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" y="5696712"/>
            <a:ext cx="8412480" cy="896112"/>
          </a:xfrm>
          <a:prstGeom prst="roundRect">
            <a:avLst>
              <a:gd name="adj" fmla="val 8163"/>
            </a:avLst>
          </a:prstGeom>
          <a:solidFill>
            <a:srgbClr val="EEF1F4"/>
          </a:solidFill>
          <a:ln w="16510">
            <a:solidFill>
              <a:srgbClr val="4A5560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806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PERSISTENCE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61539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(JSON / Postgres)  ·  Qdrant vectors  ·  Session &amp; Users (memory / Supabase)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26880" y="1600200"/>
            <a:ext cx="2194560" cy="3063240"/>
          </a:xfrm>
          <a:prstGeom prst="roundRect">
            <a:avLst>
              <a:gd name="adj" fmla="val 5000"/>
            </a:avLst>
          </a:prstGeom>
          <a:solidFill>
            <a:srgbClr val="17141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5280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528048" y="2148840"/>
            <a:ext cx="182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
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9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
intent · why · greeting
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
3-small
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9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vectors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26880" y="4800600"/>
            <a:ext cx="2194560" cy="1508760"/>
          </a:xfrm>
          <a:prstGeom prst="roundRect">
            <a:avLst>
              <a:gd name="adj" fmla="val 7273"/>
            </a:avLst>
          </a:prstGeom>
          <a:solidFill>
            <a:srgbClr val="F5F3F7"/>
          </a:solidFill>
          <a:ln w="12700">
            <a:solidFill>
              <a:srgbClr val="E2007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09760" y="4937760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7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falls back to a mock / template on failure — flipping to real can never 500 the app.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LIFECYCLE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message, seven deterministic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01368"/>
            <a:ext cx="457200" cy="457200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81328" y="17465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Agent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81328" y="20756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structured output (or regex mock). Greeting + scope guard, clarify-when-vague.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83096" y="1801368"/>
            <a:ext cx="457200" cy="457200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11" name="Text 9"/>
          <p:cNvSpPr/>
          <p:nvPr/>
        </p:nvSpPr>
        <p:spPr>
          <a:xfrm>
            <a:off x="6483096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04888" y="17465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Agent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04888" y="20756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budget, brands, features, rejections — continuous, correctable.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825496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3026664"/>
            <a:ext cx="457200" cy="457200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81328" y="29718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(RAG)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81328" y="3300984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top-k from Qdrant, or keyword fallback. Finds candidates by meaning.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825496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83096" y="3026664"/>
            <a:ext cx="457200" cy="457200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21" name="Text 19"/>
          <p:cNvSpPr/>
          <p:nvPr/>
        </p:nvSpPr>
        <p:spPr>
          <a:xfrm>
            <a:off x="6483096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04888" y="29718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Engine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04888" y="3300984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TRUTH. Pure rules: stock · budget · brand · type. No LLM, ever.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050792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9536" y="4251960"/>
            <a:ext cx="457200" cy="457200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81328" y="41970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+ Explain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481328" y="45262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4-signal ranking, diversify to top-3, “why this?” + Next-Best-Action nudges.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4050792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83096" y="4251960"/>
            <a:ext cx="457200" cy="457200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31" name="Text 29"/>
          <p:cNvSpPr/>
          <p:nvPr/>
        </p:nvSpPr>
        <p:spPr>
          <a:xfrm>
            <a:off x="6483096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04888" y="41970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104888" y="45262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⊆ eligible ids — enforced twice, belt &amp; braces.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5276088"/>
            <a:ext cx="5257800" cy="1078992"/>
          </a:xfrm>
          <a:prstGeom prst="roundRect">
            <a:avLst>
              <a:gd name="adj" fmla="val 10169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59536" y="5477256"/>
            <a:ext cx="457200" cy="457200"/>
          </a:xfrm>
          <a:prstGeom prst="ellipse">
            <a:avLst/>
          </a:prstGeom>
          <a:solidFill>
            <a:srgbClr val="17141C"/>
          </a:solidFill>
          <a:ln/>
        </p:spPr>
      </p:sp>
      <p:sp>
        <p:nvSpPr>
          <p:cNvPr id="36" name="Text 34"/>
          <p:cNvSpPr/>
          <p:nvPr/>
        </p:nvSpPr>
        <p:spPr>
          <a:xfrm>
            <a:off x="859536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81328" y="542239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481328" y="575157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retrieved_ids · rules_fired · shown_ids — an auditable decision trail.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 THE ROOM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layer, made concrete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anti-hallucination moment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 </a:t>
            </a:r>
            <a:pPr indent="0" marL="0">
              <a:lnSpc>
                <a:spcPct val="110000"/>
              </a:lnSpc>
              <a:buNone/>
            </a:pPr>
            <a:r>
              <a:rPr lang="en-US" sz="1450" i="1" dirty="0">
                <a:solidFill>
                  <a:srgbClr val="E7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“Get me an iPhone 16 Pro for €20/mo.”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7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16 Pro is out of stock, and no iPhone clears €20/mo. Nothing eligible.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Assistant:  </a:t>
            </a:r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E7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can’t offer that at €20/mo. Want the closest iPhone in budget, or a similar camera phone under €40?”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5623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refuses to invent a product or a fake price.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241E2E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1947672"/>
            <a:ext cx="457200" cy="457200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1892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229514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only real, retrieved catalog items — never fabricated.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227832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241E2E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3483864"/>
            <a:ext cx="457200" cy="457200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69480" y="3429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9480" y="383133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⊆ eligible set, enforced in two places.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764024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241E2E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5020056"/>
            <a:ext cx="457200" cy="457200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49651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69480" y="536752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record what was retrieved, which rules fired, what was shown.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&amp; EXPLAINABILITY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learns you — and shows its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preference profile updates every turn and biases ranking. Recommendations are scored from four transparent signals, blended cold-start → warm-start.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48716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E2007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907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3227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highly retrieval ranked 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22860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48716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8E2A8B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907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3227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vs. learned profile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22860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82512" y="248716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12A06B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2907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82512" y="3227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under the cap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51976" y="22860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53144" y="248716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C58A00"/>
          </a:solidFill>
          <a:ln/>
        </p:spPr>
      </p:sp>
      <p:sp>
        <p:nvSpPr>
          <p:cNvPr id="19" name="Text 17"/>
          <p:cNvSpPr/>
          <p:nvPr/>
        </p:nvSpPr>
        <p:spPr>
          <a:xfrm>
            <a:off x="9153144" y="29077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53144" y="3227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merchandising prior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7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schedule: as the profile grows, personalization takes over from relevance + popularity.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34340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17141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this for you?”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937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i="1" dirty="0">
                <a:solidFill>
                  <a:srgbClr val="E7D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Pixel 8 matches your strong-camera need, fits your €40/mo budget, and you’ve been looking at Google — my top pick.”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14400" y="5806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signal breakdown ride along on every card — real numbers, not marketing copy.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434340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3796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preference profile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37960" y="49377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0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budget_monthly_max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40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0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brands_viewed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[Samsung, Google]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0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features_mentioned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[camera, eu_roaming]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00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1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[Apple]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&amp; CONTINUITY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cart, and one session everywhere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617720"/>
          </a:xfrm>
          <a:prstGeom prst="roundRect">
            <a:avLst>
              <a:gd name="adj" fmla="val 2376"/>
            </a:avLst>
          </a:prstGeom>
          <a:solidFill>
            <a:srgbClr val="FBFAF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Cart &amp; Checkout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95728"/>
            <a:ext cx="310896" cy="310896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3225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Next-Best-Action nudges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a €15 case?”  ·  “€5 from free shipping.”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328416"/>
            <a:ext cx="310896" cy="310896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2552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suggestions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35844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“complete your setup” from real in-stock stock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4261104"/>
            <a:ext cx="310896" cy="310896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4187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billing math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45171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goods vs. monthly commitment, computed deterministically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5193792"/>
            <a:ext cx="310896" cy="310896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193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5120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checkout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371600" y="54498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→ place order → confirmation (mock, no real payment)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1645920"/>
            <a:ext cx="5486400" cy="4617720"/>
          </a:xfrm>
          <a:prstGeom prst="roundRect">
            <a:avLst>
              <a:gd name="adj" fmla="val 2376"/>
            </a:avLst>
          </a:prstGeom>
          <a:solidFill>
            <a:srgbClr val="17141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continuity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0" y="25146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241E2E"/>
          </a:solidFill>
          <a:ln w="19050">
            <a:solidFill>
              <a:srgbClr val="2B5A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514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OneShop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464040" y="2514600"/>
            <a:ext cx="1234440" cy="1737360"/>
          </a:xfrm>
          <a:prstGeom prst="roundRect">
            <a:avLst>
              <a:gd name="adj" fmla="val 7407"/>
            </a:avLst>
          </a:prstGeom>
          <a:solidFill>
            <a:srgbClr val="241E2E"/>
          </a:solidFill>
          <a:ln w="19050">
            <a:solidFill>
              <a:srgbClr val="E200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0" y="2514600"/>
            <a:ext cx="1234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C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58200" y="3200400"/>
            <a:ext cx="960120" cy="0"/>
          </a:xfrm>
          <a:prstGeom prst="line">
            <a:avLst/>
          </a:prstGeom>
          <a:noFill/>
          <a:ln w="31750">
            <a:solidFill>
              <a:srgbClr val="E20074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138160" y="3291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2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session_id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4562856"/>
            <a:ext cx="201168" cy="201168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44531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1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session_id in localStorage; ?session= carries it to any device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5038344"/>
            <a:ext cx="201168" cy="201168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49286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1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history, cart &amp; learned profile all travel with it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55080" y="5513832"/>
            <a:ext cx="201168" cy="201168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54041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1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→ guest session merges into a permanent user_id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55080" y="5989320"/>
            <a:ext cx="201168" cy="201168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0" y="58795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1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service + Supabase = horizontal scale, the real omnichannel answer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KNOW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an automated eval harness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grounded eval cases across 7 dimensions double as a CI gate — the answer to “how do you know it works?”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48840"/>
          <a:ext cx="60350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949440" y="2148840"/>
            <a:ext cx="4572000" cy="4160520"/>
          </a:xfrm>
          <a:prstGeom prst="roundRect">
            <a:avLst>
              <a:gd name="adj" fmla="val 2637"/>
            </a:avLst>
          </a:prstGeom>
          <a:solidFill>
            <a:srgbClr val="17141C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7804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suite guarantees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78040" y="2862072"/>
            <a:ext cx="237744" cy="237744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9" name="Text 6"/>
          <p:cNvSpPr/>
          <p:nvPr/>
        </p:nvSpPr>
        <p:spPr>
          <a:xfrm>
            <a:off x="7543800" y="27614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recommends junk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43800" y="307238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out-of-stock, over-budget or out-of-catalog items are impossible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703320"/>
            <a:ext cx="237744" cy="237744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12" name="Text 9"/>
          <p:cNvSpPr/>
          <p:nvPr/>
        </p:nvSpPr>
        <p:spPr>
          <a:xfrm>
            <a:off x="7543800" y="36027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constraints hold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43800" y="391363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 / type ask never swaps in something else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544568"/>
            <a:ext cx="237744" cy="237744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15" name="Text 12"/>
          <p:cNvSpPr/>
          <p:nvPr/>
        </p:nvSpPr>
        <p:spPr>
          <a:xfrm>
            <a:off x="7543800" y="444398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Personalization adapts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543800" y="47548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shifts after a rejection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385816"/>
            <a:ext cx="237744" cy="237744"/>
          </a:xfrm>
          <a:prstGeom prst="ellipse">
            <a:avLst/>
          </a:prstGeom>
          <a:solidFill>
            <a:srgbClr val="12A06B"/>
          </a:solidFill>
          <a:ln/>
        </p:spPr>
      </p:sp>
      <p:sp>
        <p:nvSpPr>
          <p:cNvPr id="18" name="Text 15"/>
          <p:cNvSpPr/>
          <p:nvPr/>
        </p:nvSpPr>
        <p:spPr>
          <a:xfrm>
            <a:off x="7543800" y="52852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math is exact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43800" y="55961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totals, free-shipping, checkout verified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ROAD AHEAD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demo today, ready to scale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854403" cy="457200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18544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95651" y="2103120"/>
            <a:ext cx="1953158" cy="457200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5651" y="2103120"/>
            <a:ext cx="1953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9978" y="2103120"/>
            <a:ext cx="2051914" cy="457200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9978" y="2103120"/>
            <a:ext cx="20519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03059" y="2103120"/>
            <a:ext cx="2446934" cy="457200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03059" y="2103120"/>
            <a:ext cx="2446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724912"/>
            <a:ext cx="1656893" cy="457200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24912"/>
            <a:ext cx="1656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98141" y="2724912"/>
            <a:ext cx="1953158" cy="457200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8141" y="2724912"/>
            <a:ext cx="1953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52467" y="2724912"/>
            <a:ext cx="1163117" cy="457200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2467" y="2724912"/>
            <a:ext cx="11631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16752" y="2724912"/>
            <a:ext cx="1656893" cy="457200"/>
          </a:xfrm>
          <a:prstGeom prst="roundRect">
            <a:avLst>
              <a:gd name="adj" fmla="val 50000"/>
            </a:avLst>
          </a:prstGeom>
          <a:solidFill>
            <a:srgbClr val="241E2E"/>
          </a:solidFill>
          <a:ln w="12700">
            <a:solidFill>
              <a:srgbClr val="E200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2724912"/>
            <a:ext cx="16568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ANOTHER WEEK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241E2E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" y="4315968"/>
            <a:ext cx="402336" cy="402336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187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OneShop catalog API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71600" y="45537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mock catalog for live product + inventory feeds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402336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241E2E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73368" y="4315968"/>
            <a:ext cx="402336" cy="402336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29" name="Text 27"/>
          <p:cNvSpPr/>
          <p:nvPr/>
        </p:nvSpPr>
        <p:spPr>
          <a:xfrm>
            <a:off x="6373368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03720" y="4187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framework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903720" y="45537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on ranking weights &amp; explanation styles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16636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241E2E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1248" y="5458968"/>
            <a:ext cx="402336" cy="402336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5458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71600" y="5330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per-customer profiles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1371600" y="56967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that survives across sessions &amp; devices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516636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241E2E"/>
          </a:solidFill>
          <a:ln w="12700">
            <a:solidFill>
              <a:srgbClr val="E2DCE9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96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73368" y="5458968"/>
            <a:ext cx="402336" cy="402336"/>
          </a:xfrm>
          <a:prstGeom prst="ellipse">
            <a:avLst/>
          </a:prstGeom>
          <a:solidFill>
            <a:srgbClr val="E20074"/>
          </a:solidFill>
          <a:ln/>
        </p:spPr>
      </p:sp>
      <p:sp>
        <p:nvSpPr>
          <p:cNvPr id="39" name="Text 37"/>
          <p:cNvSpPr/>
          <p:nvPr/>
        </p:nvSpPr>
        <p:spPr>
          <a:xfrm>
            <a:off x="6373368" y="5458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03720" y="5330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+ parallel agents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903720" y="56967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9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LLM latency at 18M-user scale; Redis session store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generates.  </a:t>
            </a:r>
            <a:pPr algn="ctr" indent="0" marL="0">
              <a:buNone/>
            </a:pPr>
            <a:r>
              <a:rPr lang="en-US" sz="1700" b="1" i="1" dirty="0">
                <a:solidFill>
                  <a:srgbClr val="E200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rules decide.</a:t>
            </a:r>
            <a:pPr algn="ctr" indent="0" marL="0">
              <a:buNone/>
            </a:pPr>
            <a:r>
              <a:rPr lang="en-US" sz="1700" i="1" dirty="0">
                <a:solidFill>
                  <a:srgbClr val="CFC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That’s why it’s trustworthy.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Telekom Smart Shopping Assistant</dc:title>
  <dc:subject>PptxGenJS Presentation</dc:subject>
  <dc:creator>Smart Shopping Assistant Team</dc:creator>
  <cp:lastModifiedBy>Smart Shopping Assistant Team</cp:lastModifiedBy>
  <cp:revision>1</cp:revision>
  <dcterms:created xsi:type="dcterms:W3CDTF">2026-07-25T02:03:08Z</dcterms:created>
  <dcterms:modified xsi:type="dcterms:W3CDTF">2026-07-25T02:03:08Z</dcterms:modified>
</cp:coreProperties>
</file>